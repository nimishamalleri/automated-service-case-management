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280" r:id="rId3"/>
    <p:sldId id="266" r:id="rId4"/>
    <p:sldId id="278" r:id="rId5"/>
    <p:sldId id="267" r:id="rId6"/>
    <p:sldId id="274" r:id="rId7"/>
    <p:sldId id="279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4B3914-868F-4E38-BB04-5E0B8DC7C22D}" v="30" dt="2026-02-28T17:15:38.2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82" autoAdjust="0"/>
    <p:restoredTop sz="90941" autoAdjust="0"/>
  </p:normalViewPr>
  <p:slideViewPr>
    <p:cSldViewPr snapToGrid="0" showGuides="1">
      <p:cViewPr varScale="1">
        <p:scale>
          <a:sx n="81" d="100"/>
          <a:sy n="81" d="100"/>
        </p:scale>
        <p:origin x="797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2" d="100"/>
          <a:sy n="62" d="100"/>
        </p:scale>
        <p:origin x="3154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84737E3-B7EF-C36D-3F40-4539A7E3D43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AE193C-EA0C-9D29-0505-F3E10B918A8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120A3A-57DF-4E27-A938-C9CB18371920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86EEDC-13CE-28A8-E844-DC63E59B7E5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35EE97-51CE-81BD-B5CD-D9814F3824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0D7A73-8F03-409A-BE31-6E23BC771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59423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05AD8A-73DF-4EB2-BCCF-08F085C123AA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242390-4565-48BF-B2BF-3ADAF840D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017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42390-4565-48BF-B2BF-3ADAF840DD9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5471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42390-4565-48BF-B2BF-3ADAF840DD9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7027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21B6C1D-9A58-FCFD-FC59-B83B334775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82D007B-2D23-25BC-3840-8B44EAE5DA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880" y="2836506"/>
            <a:ext cx="9598712" cy="1942536"/>
          </a:xfrm>
        </p:spPr>
        <p:txBody>
          <a:bodyPr anchor="b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D05245-A962-B22A-4DDB-C3B335E645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880" y="5108704"/>
            <a:ext cx="9144000" cy="605502"/>
          </a:xfrm>
        </p:spPr>
        <p:txBody>
          <a:bodyPr>
            <a:normAutofit/>
          </a:bodyPr>
          <a:lstStyle>
            <a:lvl1pPr marL="0" indent="0" algn="l"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1E589B6-88B9-49D6-0916-921E66203BF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880" y="1041399"/>
            <a:ext cx="3151259" cy="6868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26ABD9-40D7-AA22-F0C1-650D3C21A1D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880" y="6334744"/>
            <a:ext cx="1725318" cy="36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759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48D5A62-614B-2D12-4D2F-EBF4440B03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135" y="0"/>
            <a:ext cx="435865" cy="4328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303836C-3920-B8E1-6601-C5C5446BE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DB8D-FC27-13BF-343B-91B6E648E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7FC482-F850-8020-F4D8-5B9804E9BE4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02" y="6356350"/>
            <a:ext cx="1725318" cy="365792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4641A13F-9C9A-7798-CC1C-CE523E7B96E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53800" y="5986785"/>
            <a:ext cx="539470" cy="617231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78AA40A-965E-4A63-9800-522E13EEDA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4537" y="39525"/>
            <a:ext cx="539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80655E-9533-1F3E-EE1F-400B7CC42A2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1" r="25323" b="911"/>
          <a:stretch/>
        </p:blipFill>
        <p:spPr>
          <a:xfrm>
            <a:off x="0" y="0"/>
            <a:ext cx="12164007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0563A23-3EFF-38EB-A383-397C48DB7BBD}"/>
              </a:ext>
            </a:extLst>
          </p:cNvPr>
          <p:cNvSpPr/>
          <p:nvPr userDrawn="1"/>
        </p:nvSpPr>
        <p:spPr>
          <a:xfrm>
            <a:off x="0" y="0"/>
            <a:ext cx="346364" cy="42197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A32BE1-F42E-110C-83BF-0ACBAA7288E6}"/>
              </a:ext>
            </a:extLst>
          </p:cNvPr>
          <p:cNvSpPr/>
          <p:nvPr userDrawn="1"/>
        </p:nvSpPr>
        <p:spPr>
          <a:xfrm>
            <a:off x="0" y="4219720"/>
            <a:ext cx="346364" cy="263827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6C126F-E72F-28EC-ED77-1AAD54999D83}"/>
              </a:ext>
            </a:extLst>
          </p:cNvPr>
          <p:cNvCxnSpPr/>
          <p:nvPr userDrawn="1"/>
        </p:nvCxnSpPr>
        <p:spPr>
          <a:xfrm>
            <a:off x="914400" y="6280030"/>
            <a:ext cx="1863306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04359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05CB1EB-93F5-153E-4764-E6319385D9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135" y="0"/>
            <a:ext cx="435865" cy="4328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94E9C18-36D4-1EE7-007E-6520B516F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F4AB9D-F129-1D0A-3F18-30A01E3CCC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D8542C-570A-B982-EE49-D7BE0A03C9A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02" y="6356350"/>
            <a:ext cx="1725318" cy="36579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9EF8714-2E62-9E33-0635-B316E158EC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53800" y="5986785"/>
            <a:ext cx="539470" cy="61723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914BD-BC5D-E404-E474-87D0704C84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4537" y="39525"/>
            <a:ext cx="539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5868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17A5C9C-15EB-E01C-A21A-71D8E8B7B4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135" y="0"/>
            <a:ext cx="435865" cy="4328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D6001B-3DD9-17F0-8DD5-9C726E119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DF940-4841-13C0-050D-C893010CE0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A22BF0-4C09-EE31-F1E7-CE5F45A8AA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F9AE5F-CE26-D80C-F042-86377F8A6D7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02" y="6356350"/>
            <a:ext cx="1725318" cy="365792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622AC294-F3E3-1F24-5352-81AB4060EBF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53800" y="5986785"/>
            <a:ext cx="539470" cy="617231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68E6FF1-74DD-DB97-8000-750655DC31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4537" y="39525"/>
            <a:ext cx="539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9341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D3521FE-8074-3AEE-08BB-863228D4A2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135" y="0"/>
            <a:ext cx="435865" cy="4328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4051E9-43BD-C793-F812-C8B2D5C75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70F60C-4123-6B76-0C69-9257E0884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2"/>
                </a:solidFill>
                <a:latin typeface="Zilla Slab" pitchFamily="2" charset="0"/>
                <a:ea typeface="Zilla Slab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B28564-DC70-E696-0B34-9B756C5B4D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1411CD-ADCF-8C75-C21B-9C8189CDDC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2"/>
                </a:solidFill>
                <a:latin typeface="Zilla Slab" pitchFamily="2" charset="0"/>
                <a:ea typeface="Zilla Slab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A3D30F-8257-0773-224C-A80FD7DCC3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4CB09F-AA67-425D-8664-92FF321FB4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02" y="6356350"/>
            <a:ext cx="1725318" cy="365792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D9773CB4-AA79-2B87-C13D-416A1743F26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53800" y="5986785"/>
            <a:ext cx="539470" cy="617231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51C8CC7-5103-852D-2638-5633A716F9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624537" y="39525"/>
            <a:ext cx="539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72414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C190A96-BFCE-EFBD-CCDA-D7646C83B4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135" y="0"/>
            <a:ext cx="435865" cy="4328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D80C1EC-5C4F-4BB4-1D23-1BB6D97E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CC1866-2580-DF83-1482-67DBCC2EA1E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02" y="6356350"/>
            <a:ext cx="1725318" cy="365792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06928A15-0FAE-3D7A-BE88-D42ED256BE3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53800" y="5986785"/>
            <a:ext cx="539470" cy="617231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03D672C-222C-01AE-E0B6-93D6FE1ABD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4537" y="39525"/>
            <a:ext cx="539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092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0B72897-6F99-23F4-62FA-97B44DE86C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135" y="0"/>
            <a:ext cx="435865" cy="43281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B4B1E94-09C1-BD0F-9C7D-EA10237B86C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02" y="6356350"/>
            <a:ext cx="1725318" cy="365792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12804975-758F-47E4-93AA-69CA818075B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53800" y="5986785"/>
            <a:ext cx="539470" cy="617231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3EE3F8D-94C6-6090-7F45-0140F68D96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4537" y="39525"/>
            <a:ext cx="539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0301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EA1E715-A3C2-1062-72BA-AA6101EFDB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135" y="0"/>
            <a:ext cx="435865" cy="4328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C33B173-896D-3270-D196-9EA3CDED3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112838"/>
          </a:xfrm>
        </p:spPr>
        <p:txBody>
          <a:bodyPr anchor="b"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4532D-27C9-84A8-A21E-F55F54262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09652A-3B8E-D6FE-0C51-AD79BCB11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6FED96-33F4-AE85-1943-38B458CA6CC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02" y="6356350"/>
            <a:ext cx="1725318" cy="365792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76CCEDC5-EC77-FE15-57BB-7AAC4B5333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53800" y="5986785"/>
            <a:ext cx="539470" cy="617231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09DCED4-9B61-CDC1-9F25-4418EED76E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4537" y="39525"/>
            <a:ext cx="539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3393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EF93E89-EC43-508C-91D2-FE01949F0ED8}"/>
              </a:ext>
            </a:extLst>
          </p:cNvPr>
          <p:cNvSpPr/>
          <p:nvPr userDrawn="1"/>
        </p:nvSpPr>
        <p:spPr>
          <a:xfrm>
            <a:off x="5076825" y="885825"/>
            <a:ext cx="6275387" cy="498316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C8168B-13D2-605D-EF13-8460F43410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135" y="0"/>
            <a:ext cx="435865" cy="4328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0864C21-F58A-694E-BDDF-DDA23E0F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112838"/>
          </a:xfrm>
        </p:spPr>
        <p:txBody>
          <a:bodyPr anchor="b"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5008F3-14EF-C275-5009-54A6C0948E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065837" cy="4737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828B4C-F206-DE18-A860-B2259AF8DF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578718"/>
            <a:ext cx="3932237" cy="429026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50AA15-91AB-ED53-47E2-7B264334441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02" y="6356350"/>
            <a:ext cx="1725318" cy="365792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6C2B2FDC-3E39-80E3-47A9-F14E0B22DB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53800" y="5986785"/>
            <a:ext cx="539470" cy="617231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A1E7417-7698-6DAD-F799-E94ADF9A91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4537" y="39525"/>
            <a:ext cx="539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1208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768AD05-1982-0DF0-DB84-69992E3B47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135" y="0"/>
            <a:ext cx="435865" cy="4328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0D3381-9A33-CDE6-A465-39D508AD7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A21791-0209-93DE-4383-04DAF66454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507BB1-3659-8D23-FA89-EA4F4D60D67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02" y="6356350"/>
            <a:ext cx="1725318" cy="36579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DA12D315-2DC9-AE52-4820-DBFE1FD82AA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53800" y="5986785"/>
            <a:ext cx="539470" cy="61723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BA133-188F-1018-3011-9894D2759E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4537" y="39525"/>
            <a:ext cx="539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03659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D6172AF-7DA8-B4AB-77FD-93C3CDDBF7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135" y="0"/>
            <a:ext cx="435865" cy="432817"/>
          </a:xfrm>
          <a:prstGeom prst="rect">
            <a:avLst/>
          </a:prstGeom>
        </p:spPr>
      </p:pic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514317-5D4A-3C1D-4027-E4A77FCE8B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BE6995-F9A4-0689-FA08-AC65CBECF2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4AF2B0-44DA-FC23-665D-75C23412D4B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02" y="6356350"/>
            <a:ext cx="1725318" cy="36579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1EBA1BCB-5D76-4F42-E4D9-407309BC6F3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53800" y="5986785"/>
            <a:ext cx="539470" cy="61723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9CA00D-4A52-8A7A-BE74-13E98B5DA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4537" y="39525"/>
            <a:ext cx="539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18767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hidden="1">
            <a:extLst>
              <a:ext uri="{FF2B5EF4-FFF2-40B4-BE49-F238E27FC236}">
                <a16:creationId xmlns:a16="http://schemas.microsoft.com/office/drawing/2014/main" id="{121B6C1D-9A58-FCFD-FC59-B83B334775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4796"/>
            <a:ext cx="12192000" cy="6857998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1C00A59F-5699-FFEC-05E4-084B9D01F5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2362" y="3032254"/>
            <a:ext cx="342035" cy="376238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572AEE09-A5AD-AA06-48E6-898E033BA94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9779" y="3926565"/>
            <a:ext cx="307200" cy="38400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A01C56E0-4FF4-A49E-65BE-5A1BF232E4D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0775" y="4758611"/>
            <a:ext cx="405209" cy="405209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CDEF55D3-82EA-2BAF-B8BF-6C8795BCED9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9779" y="5676372"/>
            <a:ext cx="3172854" cy="37604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1E589B6-88B9-49D6-0916-921E66203BF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880" y="1041399"/>
            <a:ext cx="4760571" cy="1037560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659A0B0B-6155-1E7E-4087-A0497CBDBD27}"/>
              </a:ext>
            </a:extLst>
          </p:cNvPr>
          <p:cNvSpPr txBox="1">
            <a:spLocks/>
          </p:cNvSpPr>
          <p:nvPr userDrawn="1"/>
        </p:nvSpPr>
        <p:spPr>
          <a:xfrm>
            <a:off x="1628774" y="3921043"/>
            <a:ext cx="8460106" cy="3639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tx1"/>
                </a:solidFill>
              </a:rPr>
              <a:t>0731 3111500, 0731 3111501 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AC9BAA4C-4941-92F4-0508-9A086B1782D0}"/>
              </a:ext>
            </a:extLst>
          </p:cNvPr>
          <p:cNvSpPr txBox="1">
            <a:spLocks/>
          </p:cNvSpPr>
          <p:nvPr userDrawn="1"/>
        </p:nvSpPr>
        <p:spPr>
          <a:xfrm>
            <a:off x="1628774" y="4797553"/>
            <a:ext cx="8407400" cy="40520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www.medicaps.ac.in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A505A0EF-09C3-A69E-1757-50EC79E03CA8}"/>
              </a:ext>
            </a:extLst>
          </p:cNvPr>
          <p:cNvSpPr txBox="1">
            <a:spLocks/>
          </p:cNvSpPr>
          <p:nvPr userDrawn="1"/>
        </p:nvSpPr>
        <p:spPr>
          <a:xfrm>
            <a:off x="1628774" y="3030245"/>
            <a:ext cx="8460106" cy="3639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A.B. Road, </a:t>
            </a:r>
            <a:r>
              <a:rPr lang="en-US" dirty="0" err="1">
                <a:solidFill>
                  <a:schemeClr val="tx1"/>
                </a:solidFill>
              </a:rPr>
              <a:t>Pigdamber</a:t>
            </a:r>
            <a:r>
              <a:rPr lang="en-US" dirty="0">
                <a:solidFill>
                  <a:schemeClr val="tx1"/>
                </a:solidFill>
              </a:rPr>
              <a:t>, Rau, Indore – 453331 </a:t>
            </a:r>
          </a:p>
        </p:txBody>
      </p:sp>
    </p:spTree>
    <p:extLst>
      <p:ext uri="{BB962C8B-B14F-4D97-AF65-F5344CB8AC3E}">
        <p14:creationId xmlns:p14="http://schemas.microsoft.com/office/powerpoint/2010/main" val="1682911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105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2AB9EE-315E-A59D-7C69-7297198BE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CD9C6-79F7-5E4F-5997-18FD9FB865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86A633-AE6E-E900-F6C6-2A97DCD181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FF33C2-41D7-CC19-A386-62E89AE35F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EF264C-5B54-0AB1-A4A1-B9DE1C365F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599A10-5031-416A-8935-40C3BCBA0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216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mailto:suggestions@medicaps.ac.in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A047D-7384-7188-237B-A0D05A2053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880" y="3906370"/>
            <a:ext cx="5624008" cy="872671"/>
          </a:xfrm>
        </p:spPr>
        <p:txBody>
          <a:bodyPr>
            <a:noAutofit/>
          </a:bodyPr>
          <a:lstStyle/>
          <a:p>
            <a:br>
              <a:rPr lang="en-IN" sz="3200" dirty="0"/>
            </a:br>
            <a:endParaRPr lang="en-US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A028DC-049A-2F5E-A96B-81D104E86B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3238" y="2357582"/>
            <a:ext cx="9763565" cy="3797033"/>
          </a:xfrm>
        </p:spPr>
        <p:txBody>
          <a:bodyPr>
            <a:normAutofit/>
          </a:bodyPr>
          <a:lstStyle/>
          <a:p>
            <a:r>
              <a:rPr lang="en-IN" b="1" dirty="0"/>
              <a:t>Automated Service Case Management</a:t>
            </a:r>
          </a:p>
          <a:p>
            <a:r>
              <a:rPr lang="en-IN" dirty="0"/>
              <a:t>Using Salesforce, OCR &amp; AI</a:t>
            </a:r>
          </a:p>
          <a:p>
            <a:endParaRPr lang="en-IN" dirty="0"/>
          </a:p>
          <a:p>
            <a:r>
              <a:rPr lang="en-IN" b="1" dirty="0"/>
              <a:t>Nimisha </a:t>
            </a:r>
            <a:r>
              <a:rPr lang="en-IN" b="1" dirty="0" err="1"/>
              <a:t>Malleri</a:t>
            </a:r>
            <a:r>
              <a:rPr lang="en-IN" b="1" dirty="0"/>
              <a:t> (</a:t>
            </a:r>
            <a:r>
              <a:rPr lang="en-IN" dirty="0"/>
              <a:t>EN22IT301062)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459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4880" y="491033"/>
            <a:ext cx="4463951" cy="557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375"/>
              </a:lnSpc>
            </a:pPr>
            <a:r>
              <a:rPr lang="en-US" sz="3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</a:rPr>
              <a:t>Work Completed – Month 1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904974" y="2286099"/>
            <a:ext cx="2911673" cy="5580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67"/>
              </a:lnSpc>
            </a:pP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904974" y="3012778"/>
            <a:ext cx="2911673" cy="555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67"/>
              </a:lnSpc>
            </a:pPr>
            <a:r>
              <a:rPr lang="en-US" sz="137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375" dirty="0"/>
          </a:p>
        </p:txBody>
      </p:sp>
      <p:sp>
        <p:nvSpPr>
          <p:cNvPr id="9" name="Text 7"/>
          <p:cNvSpPr/>
          <p:nvPr/>
        </p:nvSpPr>
        <p:spPr>
          <a:xfrm>
            <a:off x="4469309" y="2286099"/>
            <a:ext cx="2413893" cy="279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67"/>
              </a:lnSpc>
            </a:pP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4469309" y="2733774"/>
            <a:ext cx="2911673" cy="555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67"/>
              </a:lnSpc>
            </a:pPr>
            <a:endParaRPr lang="en-US" sz="1375" dirty="0"/>
          </a:p>
        </p:txBody>
      </p:sp>
      <p:sp>
        <p:nvSpPr>
          <p:cNvPr id="13" name="Text 11"/>
          <p:cNvSpPr/>
          <p:nvPr/>
        </p:nvSpPr>
        <p:spPr>
          <a:xfrm>
            <a:off x="904975" y="4144864"/>
            <a:ext cx="2644279" cy="279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67"/>
              </a:lnSpc>
            </a:pP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904974" y="4592539"/>
            <a:ext cx="2911673" cy="833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67"/>
              </a:lnSpc>
            </a:pPr>
            <a:endParaRPr lang="en-US" sz="1375" dirty="0"/>
          </a:p>
        </p:txBody>
      </p:sp>
      <p:sp>
        <p:nvSpPr>
          <p:cNvPr id="17" name="Text 15"/>
          <p:cNvSpPr/>
          <p:nvPr/>
        </p:nvSpPr>
        <p:spPr>
          <a:xfrm>
            <a:off x="4469309" y="4144864"/>
            <a:ext cx="2231926" cy="279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67"/>
              </a:lnSpc>
            </a:pPr>
            <a:endParaRPr lang="en-US" sz="175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B74C03C-1302-CBA5-4259-A24D6D018BBC}"/>
              </a:ext>
            </a:extLst>
          </p:cNvPr>
          <p:cNvSpPr txBox="1"/>
          <p:nvPr/>
        </p:nvSpPr>
        <p:spPr>
          <a:xfrm>
            <a:off x="464527" y="1583244"/>
            <a:ext cx="1126294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Salesforce Org Setup:</a:t>
            </a:r>
            <a:r>
              <a:rPr lang="en-US" dirty="0"/>
              <a:t> Initial configuration of the Salesforce environment.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Email-to-Case Configuration:</a:t>
            </a:r>
            <a:r>
              <a:rPr lang="en-US" dirty="0"/>
              <a:t> Enabled automatic case creation from incoming emails.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Custom Fields and Objects:</a:t>
            </a:r>
            <a:r>
              <a:rPr lang="en-US" dirty="0"/>
              <a:t> Defined specific data structures for appliance service cases.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Page Layouts and Record Types:</a:t>
            </a:r>
            <a:r>
              <a:rPr lang="en-US" dirty="0"/>
              <a:t> Tailored user interfaces for efficient data entry and viewing</a:t>
            </a:r>
          </a:p>
          <a:p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Assignment Rules:</a:t>
            </a:r>
            <a:r>
              <a:rPr lang="en-US" dirty="0"/>
              <a:t> Established logic for automatically routing cases to the correct team/agent.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7A31D-4DE5-8F69-503B-249C007B6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9375B-2534-304A-7D8C-E82799F31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7ADF3-314D-3F64-4D25-BE54C45467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en-US" sz="2400" dirty="0"/>
          </a:p>
          <a:p>
            <a:pPr marL="0" indent="0">
              <a:buNone/>
            </a:pPr>
            <a:endParaRPr lang="en-US" sz="2500" dirty="0"/>
          </a:p>
          <a:p>
            <a:pPr marL="0" indent="0">
              <a:buNone/>
            </a:pPr>
            <a:endParaRPr lang="en-US" sz="2500" dirty="0"/>
          </a:p>
          <a:p>
            <a:pPr marL="0" indent="0">
              <a:buNone/>
            </a:pPr>
            <a:endParaRPr lang="en-US" sz="2500" dirty="0"/>
          </a:p>
          <a:p>
            <a:pPr marL="0" indent="0">
              <a:buNone/>
            </a:pPr>
            <a:endParaRPr lang="en-US" sz="25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C30EAE-A411-EFB2-DE98-4C280900D0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4599A10-5031-416A-8935-40C3BCBA0AF7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9F90FCB-408A-E628-386C-18778308E3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0456" y="471340"/>
            <a:ext cx="11771544" cy="5842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257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9C8F5-2145-DEEF-F356-46206CF31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D038C-FF73-339E-268C-262BBED2E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AUTOMATION IMPLEMENTED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92523-01BB-3FBC-8D59-67EED1E53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2684" y="1825625"/>
            <a:ext cx="4821115" cy="4351338"/>
          </a:xfrm>
        </p:spPr>
        <p:txBody>
          <a:bodyPr>
            <a:normAutofit lnSpcReduction="10000"/>
          </a:bodyPr>
          <a:lstStyle/>
          <a:p>
            <a:r>
              <a:rPr lang="en-US" sz="2000" b="1" dirty="0"/>
              <a:t>Validation Rules:</a:t>
            </a:r>
            <a:r>
              <a:rPr lang="en-US" sz="2000" dirty="0"/>
              <a:t> Ensured data integrity by enforcing specific criteria for field inputs.</a:t>
            </a:r>
          </a:p>
          <a:p>
            <a:endParaRPr lang="en-US" sz="2000" dirty="0"/>
          </a:p>
          <a:p>
            <a:r>
              <a:rPr lang="en-US" sz="2000" b="1" dirty="0"/>
              <a:t>Basic Flows:</a:t>
            </a:r>
            <a:r>
              <a:rPr lang="en-US" sz="2000" dirty="0"/>
              <a:t> Developed foundational automated processes for routine tasks.</a:t>
            </a:r>
          </a:p>
          <a:p>
            <a:endParaRPr lang="en-US" sz="2000" dirty="0"/>
          </a:p>
          <a:p>
            <a:r>
              <a:rPr lang="en-US" sz="2000" b="1" dirty="0"/>
              <a:t>User Roles and Profiles:</a:t>
            </a:r>
            <a:r>
              <a:rPr lang="en-US" sz="2000" dirty="0"/>
              <a:t> Configured access levels and permissions for different user types.</a:t>
            </a:r>
          </a:p>
          <a:p>
            <a:endParaRPr lang="en-US" sz="2000" dirty="0"/>
          </a:p>
          <a:p>
            <a:r>
              <a:rPr lang="en-US" sz="2000" b="1" dirty="0"/>
              <a:t>Case Creation Testing:</a:t>
            </a:r>
            <a:r>
              <a:rPr lang="en-US" sz="2000" dirty="0"/>
              <a:t> Conducted thorough tests to validate automated case generation.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lnSpc>
                <a:spcPct val="150000"/>
              </a:lnSpc>
              <a:buNone/>
            </a:pPr>
            <a:endParaRPr lang="en-US" sz="2000" dirty="0"/>
          </a:p>
          <a:p>
            <a:pPr>
              <a:buBlip>
                <a:blip r:embed="rId2"/>
              </a:buBlip>
            </a:pPr>
            <a:endParaRPr lang="en-US" sz="2000" dirty="0"/>
          </a:p>
          <a:p>
            <a:pPr>
              <a:buBlip>
                <a:blip r:embed="rId2"/>
              </a:buBlip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BAEC1E-B579-65D0-8FF0-FB9B3C9782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4599A10-5031-416A-8935-40C3BCBA0AF7}" type="slidenum">
              <a:rPr lang="en-US" smtClean="0"/>
              <a:pPr/>
              <a:t>4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12C5F86-133B-A755-E799-07891E958224}"/>
              </a:ext>
            </a:extLst>
          </p:cNvPr>
          <p:cNvCxnSpPr>
            <a:cxnSpLocks/>
          </p:cNvCxnSpPr>
          <p:nvPr/>
        </p:nvCxnSpPr>
        <p:spPr>
          <a:xfrm>
            <a:off x="838200" y="1495245"/>
            <a:ext cx="3498011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E20C357-7464-A08E-2006-96611DEFD8F7}"/>
              </a:ext>
            </a:extLst>
          </p:cNvPr>
          <p:cNvCxnSpPr>
            <a:cxnSpLocks/>
          </p:cNvCxnSpPr>
          <p:nvPr/>
        </p:nvCxnSpPr>
        <p:spPr>
          <a:xfrm>
            <a:off x="4336211" y="1495245"/>
            <a:ext cx="2760262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5" name="Picture 1">
            <a:extLst>
              <a:ext uri="{FF2B5EF4-FFF2-40B4-BE49-F238E27FC236}">
                <a16:creationId xmlns:a16="http://schemas.microsoft.com/office/drawing/2014/main" id="{B7C98FA9-079A-B023-EF5A-9055ACE5B1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946" y="1992385"/>
            <a:ext cx="4932485" cy="4017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1334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017927-F2CB-A19D-E1DB-1848D5C0A0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4599A10-5031-416A-8935-40C3BCBA0AF7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9EA81D-053B-5E39-2103-EEA4CA41A259}"/>
              </a:ext>
            </a:extLst>
          </p:cNvPr>
          <p:cNvSpPr txBox="1"/>
          <p:nvPr/>
        </p:nvSpPr>
        <p:spPr>
          <a:xfrm>
            <a:off x="673480" y="291006"/>
            <a:ext cx="68449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LEARNING OUTCOMES </a:t>
            </a:r>
            <a:endParaRPr lang="en-IN" sz="3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9FCFD8-2C8C-6D57-5D4D-7A929B2072BB}"/>
              </a:ext>
            </a:extLst>
          </p:cNvPr>
          <p:cNvSpPr txBox="1"/>
          <p:nvPr/>
        </p:nvSpPr>
        <p:spPr>
          <a:xfrm>
            <a:off x="5098472" y="2687496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Case Management Configuration</a:t>
            </a:r>
          </a:p>
          <a:p>
            <a:r>
              <a:rPr lang="en-US" dirty="0"/>
              <a:t>Learned best practices for setting up and optimizing service cloud features.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E8ACFF-752F-6963-0CD7-6A566967DE4E}"/>
              </a:ext>
            </a:extLst>
          </p:cNvPr>
          <p:cNvSpPr txBox="1"/>
          <p:nvPr/>
        </p:nvSpPr>
        <p:spPr>
          <a:xfrm>
            <a:off x="1265381" y="1399769"/>
            <a:ext cx="642851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Salesforce Admin Skills</a:t>
            </a:r>
          </a:p>
          <a:p>
            <a:pPr>
              <a:buNone/>
            </a:pPr>
            <a:r>
              <a:rPr lang="en-US" dirty="0"/>
              <a:t>Gained hands-on experience in platform configuration and management.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7A5769-454B-9F1A-88A0-F821BDBFB4E6}"/>
              </a:ext>
            </a:extLst>
          </p:cNvPr>
          <p:cNvSpPr txBox="1"/>
          <p:nvPr/>
        </p:nvSpPr>
        <p:spPr>
          <a:xfrm>
            <a:off x="1316180" y="3970605"/>
            <a:ext cx="6146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Automation Basics</a:t>
            </a:r>
          </a:p>
          <a:p>
            <a:pPr>
              <a:buNone/>
            </a:pPr>
            <a:r>
              <a:rPr lang="en-US" dirty="0"/>
              <a:t>Developed an understanding of process automation using Salesforce Flows.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A9FFB4-7C8D-27F8-939C-356097C0EEF9}"/>
              </a:ext>
            </a:extLst>
          </p:cNvPr>
          <p:cNvSpPr txBox="1"/>
          <p:nvPr/>
        </p:nvSpPr>
        <p:spPr>
          <a:xfrm>
            <a:off x="5098472" y="5111202"/>
            <a:ext cx="6146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System Design Understanding</a:t>
            </a:r>
          </a:p>
          <a:p>
            <a:pPr>
              <a:buNone/>
            </a:pPr>
            <a:r>
              <a:rPr lang="en-US" dirty="0"/>
              <a:t>Improved ability to conceptualize and plan robust technical solutions.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F6A3BFD-2928-6642-3A20-6BD4E0A90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442" y="1466288"/>
            <a:ext cx="571550" cy="70872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21EF7D7-6DAB-87EA-D4C9-DB9F94CB79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3381" y="2855765"/>
            <a:ext cx="624894" cy="58679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682DF3B-23C7-21A5-2F12-69A4572620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442" y="4180788"/>
            <a:ext cx="556308" cy="50296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8EC8B17-0606-E42B-4793-FDE29206EA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3381" y="5260420"/>
            <a:ext cx="556308" cy="624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077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240F6-4A4F-1568-4FDE-8AEBF7EF1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020D3B-941D-5101-2A51-BB74E81AAA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4599A10-5031-416A-8935-40C3BCBA0AF7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DFCAF8C-3195-8F48-34E9-F709FCC81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27805"/>
            <a:ext cx="8126083" cy="956891"/>
          </a:xfrm>
        </p:spPr>
        <p:txBody>
          <a:bodyPr>
            <a:noAutofit/>
          </a:bodyPr>
          <a:lstStyle/>
          <a:p>
            <a:r>
              <a:rPr lang="en-US" sz="3600" dirty="0"/>
              <a:t>NEXT MONTH PLAN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C8CFE02-1512-BEEE-6D1F-F91B7E45585E}"/>
              </a:ext>
            </a:extLst>
          </p:cNvPr>
          <p:cNvCxnSpPr>
            <a:cxnSpLocks/>
          </p:cNvCxnSpPr>
          <p:nvPr/>
        </p:nvCxnSpPr>
        <p:spPr>
          <a:xfrm>
            <a:off x="914400" y="1495245"/>
            <a:ext cx="3498011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69E4DB2-05FC-242E-6807-3B995F9F76B5}"/>
              </a:ext>
            </a:extLst>
          </p:cNvPr>
          <p:cNvCxnSpPr>
            <a:cxnSpLocks/>
          </p:cNvCxnSpPr>
          <p:nvPr/>
        </p:nvCxnSpPr>
        <p:spPr>
          <a:xfrm>
            <a:off x="4388507" y="1495245"/>
            <a:ext cx="2760262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392C468-ED43-015C-A71B-CB6A8E79D019}"/>
              </a:ext>
            </a:extLst>
          </p:cNvPr>
          <p:cNvSpPr txBox="1"/>
          <p:nvPr/>
        </p:nvSpPr>
        <p:spPr>
          <a:xfrm>
            <a:off x="6613236" y="1664293"/>
            <a:ext cx="466436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OCR Integration:</a:t>
            </a:r>
            <a:r>
              <a:rPr lang="en-US" dirty="0"/>
              <a:t> Implement optical character recognition for attachment processing.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AI Classification:</a:t>
            </a:r>
            <a:r>
              <a:rPr lang="en-US" dirty="0"/>
              <a:t> Develop and deploy AI models for intelligent case categorization.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Auto-Priority Tagging:</a:t>
            </a:r>
            <a:r>
              <a:rPr lang="en-US" dirty="0"/>
              <a:t> Configure automatic assignment of priority levels to cases.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End-to-End Testing:</a:t>
            </a:r>
            <a:r>
              <a:rPr lang="en-US" dirty="0"/>
              <a:t> Conduct comprehensive testing of the complete automated workflow.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7E2E71-9B07-44BB-6B56-7AD0EF565C38}"/>
              </a:ext>
            </a:extLst>
          </p:cNvPr>
          <p:cNvSpPr txBox="1"/>
          <p:nvPr/>
        </p:nvSpPr>
        <p:spPr>
          <a:xfrm>
            <a:off x="3048000" y="324664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A7C8E7E-9BDB-1EDC-FAF2-0F5146573B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67345"/>
            <a:ext cx="5143500" cy="3888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521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72700-31C1-F6E4-4BF3-668D250F4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65987F-1D74-4646-DC9C-9088DD888B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4599A10-5031-416A-8935-40C3BCBA0AF7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05C7683-34CE-BE62-BCAF-70C3F16F0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622" y="673962"/>
            <a:ext cx="3706907" cy="664682"/>
          </a:xfrm>
        </p:spPr>
        <p:txBody>
          <a:bodyPr>
            <a:no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4800" i="0" u="none" strike="noStrike" dirty="0">
                <a:solidFill>
                  <a:srgbClr val="A32837"/>
                </a:solidFill>
                <a:effectLst/>
              </a:rPr>
              <a:t>Thank You!</a:t>
            </a:r>
            <a:endParaRPr lang="en-US" sz="480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F718C2-37F5-1210-38ED-D70A376E8BE5}"/>
              </a:ext>
            </a:extLst>
          </p:cNvPr>
          <p:cNvCxnSpPr>
            <a:cxnSpLocks/>
          </p:cNvCxnSpPr>
          <p:nvPr/>
        </p:nvCxnSpPr>
        <p:spPr>
          <a:xfrm>
            <a:off x="838200" y="1495245"/>
            <a:ext cx="3498011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713CB39-7A1C-41DE-AC01-301A5E16497D}"/>
              </a:ext>
            </a:extLst>
          </p:cNvPr>
          <p:cNvCxnSpPr>
            <a:cxnSpLocks/>
          </p:cNvCxnSpPr>
          <p:nvPr/>
        </p:nvCxnSpPr>
        <p:spPr>
          <a:xfrm>
            <a:off x="4312307" y="1495245"/>
            <a:ext cx="2760262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DA488-75F2-9186-1D02-A747C47DB0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+mj-lt"/>
              </a:rPr>
              <a:t>For any query/suggestions pls mail us at </a:t>
            </a:r>
            <a:endParaRPr lang="en-US" sz="3200" b="0" dirty="0">
              <a:effectLst/>
              <a:latin typeface="+mj-lt"/>
            </a:endParaRPr>
          </a:p>
          <a:p>
            <a:pPr mar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sng" strike="noStrike" dirty="0">
                <a:solidFill>
                  <a:srgbClr val="000000"/>
                </a:solidFill>
                <a:effectLst/>
                <a:latin typeface="+mj-lt"/>
                <a:hlinkClick r:id="rId2"/>
              </a:rPr>
              <a:t>en22it301062@medicaps.ac.in</a:t>
            </a:r>
            <a:endParaRPr lang="en-US" sz="3200" b="0" dirty="0">
              <a:effectLst/>
              <a:latin typeface="+mj-lt"/>
            </a:endParaRPr>
          </a:p>
          <a:p>
            <a:pPr marL="0" indent="0">
              <a:buNone/>
            </a:pPr>
            <a:br>
              <a:rPr lang="en-US" sz="4000" dirty="0">
                <a:latin typeface="+mj-lt"/>
              </a:rPr>
            </a:br>
            <a:endParaRPr lang="en-US" sz="4000" dirty="0">
              <a:latin typeface="+mj-lt"/>
            </a:endParaRPr>
          </a:p>
          <a:p>
            <a:pPr marL="0" indent="0">
              <a:buNone/>
            </a:pPr>
            <a:endParaRPr lang="en-US" sz="2500" dirty="0"/>
          </a:p>
          <a:p>
            <a:pPr marL="0" indent="0">
              <a:buNone/>
            </a:pPr>
            <a:endParaRPr lang="en-US" sz="2500" dirty="0"/>
          </a:p>
          <a:p>
            <a:pPr marL="0" indent="0">
              <a:buNone/>
            </a:pPr>
            <a:endParaRPr lang="en-US" sz="2500" dirty="0"/>
          </a:p>
          <a:p>
            <a:pPr marL="0" indent="0">
              <a:buNone/>
            </a:pP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1243924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26039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000000"/>
      </a:dk1>
      <a:lt1>
        <a:sysClr val="window" lastClr="FFFFFF"/>
      </a:lt1>
      <a:dk2>
        <a:srgbClr val="293786"/>
      </a:dk2>
      <a:lt2>
        <a:srgbClr val="A21D2E"/>
      </a:lt2>
      <a:accent1>
        <a:srgbClr val="A6AFE4"/>
      </a:accent1>
      <a:accent2>
        <a:srgbClr val="F4BEC4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edicaps">
      <a:majorFont>
        <a:latin typeface="Metropolis Semi Bold"/>
        <a:ea typeface=""/>
        <a:cs typeface=""/>
      </a:majorFont>
      <a:minorFont>
        <a:latin typeface="Metropoli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 template" id="{617A8B78-F622-4C57-A45F-FE0E80141807}" vid="{1E4079A0-7BD4-493D-B6C3-8779881B8C2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 template (1)</Template>
  <TotalTime>87</TotalTime>
  <Words>279</Words>
  <Application>Microsoft Office PowerPoint</Application>
  <PresentationFormat>Widescreen</PresentationFormat>
  <Paragraphs>78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Calibri</vt:lpstr>
      <vt:lpstr>Inter</vt:lpstr>
      <vt:lpstr>Inter Bold</vt:lpstr>
      <vt:lpstr>Metropolis</vt:lpstr>
      <vt:lpstr>Metropolis Semi Bold</vt:lpstr>
      <vt:lpstr>Zilla Slab</vt:lpstr>
      <vt:lpstr>Office Theme</vt:lpstr>
      <vt:lpstr> </vt:lpstr>
      <vt:lpstr>PowerPoint Presentation</vt:lpstr>
      <vt:lpstr> </vt:lpstr>
      <vt:lpstr>AUTOMATION IMPLEMENTED </vt:lpstr>
      <vt:lpstr>PowerPoint Presentation</vt:lpstr>
      <vt:lpstr>NEXT MONTH PLAN </vt:lpstr>
      <vt:lpstr>Thank You!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Nimisha Malleri</dc:creator>
  <cp:lastModifiedBy>Nimisha Malleri</cp:lastModifiedBy>
  <cp:revision>4</cp:revision>
  <dcterms:created xsi:type="dcterms:W3CDTF">2026-02-28T16:34:02Z</dcterms:created>
  <dcterms:modified xsi:type="dcterms:W3CDTF">2026-04-08T06:12:39Z</dcterms:modified>
</cp:coreProperties>
</file>